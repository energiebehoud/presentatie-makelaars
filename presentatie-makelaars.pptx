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4884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B8A6"/>
                </a:solidFill>
                <a:latin typeface="Calibri"/>
              </a:rPr>
              <a:t>PRESENTATIE · ENERGIELABEL &amp; VERDUURZAMING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42032"/>
            <a:ext cx="7589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Calibri"/>
              </a:rPr>
              <a:t>Energielabel, maatwerkadvies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Calibri"/>
              </a:rPr>
              <a:t>&amp; verduurzaming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7040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C2CEDF"/>
                </a:solidFill>
                <a:latin typeface="Calibri"/>
              </a:rPr>
              <a:t>Wat ze betekenen, waarom registratie ertoe doet, en hoe </a:t>
            </a:r>
            <a:r>
              <a:rPr sz="1700" b="1" i="0">
                <a:solidFill>
                  <a:srgbClr val="14B8A6"/>
                </a:solidFill>
                <a:latin typeface="Calibri"/>
              </a:rPr>
              <a:t>Labellift</a:t>
            </a:r>
            <a:r>
              <a:rPr sz="1700" b="0" i="0">
                <a:solidFill>
                  <a:srgbClr val="C2CEDF"/>
                </a:solidFill>
                <a:latin typeface="Calibri"/>
              </a:rPr>
              <a:t> jouw klanten dit jaar op weg helpt.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Energiebehoud BV  ·  Berend van Berkel</a:t>
            </a:r>
            <a:r>
              <a:rPr sz="1300" b="0" i="0">
                <a:solidFill>
                  <a:srgbClr val="9FB0C9"/>
                </a:solidFill>
                <a:latin typeface="Calibri"/>
              </a:rPr>
              <a:t>      Labellift.nl — dit jaar online</a:t>
            </a:r>
          </a:p>
        </p:txBody>
      </p:sp>
      <p:sp>
        <p:nvSpPr>
          <p:cNvPr id="7" name="Pentagon 6"/>
          <p:cNvSpPr/>
          <p:nvPr/>
        </p:nvSpPr>
        <p:spPr>
          <a:xfrm>
            <a:off x="9098280" y="2057400"/>
            <a:ext cx="868680" cy="301752"/>
          </a:xfrm>
          <a:prstGeom prst="homePlate">
            <a:avLst/>
          </a:prstGeom>
          <a:solidFill>
            <a:srgbClr val="009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17152" y="2039112"/>
            <a:ext cx="10972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  <a:r>
              <a:rPr sz="840" b="1" i="0" baseline="30000">
                <a:solidFill>
                  <a:srgbClr val="FFFFFF"/>
                </a:solidFill>
                <a:latin typeface="Calibri"/>
              </a:rPr>
              <a:t>+++</a:t>
            </a:r>
          </a:p>
        </p:txBody>
      </p:sp>
      <p:sp>
        <p:nvSpPr>
          <p:cNvPr id="9" name="Pentagon 8"/>
          <p:cNvSpPr/>
          <p:nvPr/>
        </p:nvSpPr>
        <p:spPr>
          <a:xfrm>
            <a:off x="9098280" y="2414016"/>
            <a:ext cx="1106424" cy="301752"/>
          </a:xfrm>
          <a:prstGeom prst="homePlate">
            <a:avLst/>
          </a:prstGeom>
          <a:solidFill>
            <a:srgbClr val="52A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17152" y="2395728"/>
            <a:ext cx="10972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  <a:r>
              <a:rPr sz="840" b="1" i="0" baseline="30000">
                <a:solidFill>
                  <a:srgbClr val="FFFFFF"/>
                </a:solidFill>
                <a:latin typeface="Calibri"/>
              </a:rPr>
              <a:t>++</a:t>
            </a:r>
          </a:p>
        </p:txBody>
      </p:sp>
      <p:sp>
        <p:nvSpPr>
          <p:cNvPr id="11" name="Pentagon 10"/>
          <p:cNvSpPr/>
          <p:nvPr/>
        </p:nvSpPr>
        <p:spPr>
          <a:xfrm>
            <a:off x="9098280" y="2770632"/>
            <a:ext cx="1344168" cy="301752"/>
          </a:xfrm>
          <a:prstGeom prst="homePlate">
            <a:avLst/>
          </a:prstGeom>
          <a:solidFill>
            <a:srgbClr val="C7D3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17152" y="2752344"/>
            <a:ext cx="10972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  <a:r>
              <a:rPr sz="840" b="1" i="0" baseline="3000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3" name="Pentagon 12"/>
          <p:cNvSpPr/>
          <p:nvPr/>
        </p:nvSpPr>
        <p:spPr>
          <a:xfrm>
            <a:off x="9098280" y="3127248"/>
            <a:ext cx="1581912" cy="301752"/>
          </a:xfrm>
          <a:prstGeom prst="homePlate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17152" y="3108960"/>
            <a:ext cx="10972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5" name="Pentagon 14"/>
          <p:cNvSpPr/>
          <p:nvPr/>
        </p:nvSpPr>
        <p:spPr>
          <a:xfrm>
            <a:off x="9098280" y="3483864"/>
            <a:ext cx="1819656" cy="301752"/>
          </a:xfrm>
          <a:prstGeom prst="homePlate">
            <a:avLst/>
          </a:prstGeom>
          <a:solidFill>
            <a:srgbClr val="FB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7152" y="3465576"/>
            <a:ext cx="10972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Pentagon 16"/>
          <p:cNvSpPr/>
          <p:nvPr/>
        </p:nvSpPr>
        <p:spPr>
          <a:xfrm>
            <a:off x="9098280" y="3840480"/>
            <a:ext cx="2057400" cy="301752"/>
          </a:xfrm>
          <a:prstGeom prst="homePlate">
            <a:avLst/>
          </a:prstGeom>
          <a:solidFill>
            <a:srgbClr val="E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7152" y="3822192"/>
            <a:ext cx="10972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Pentagon 18"/>
          <p:cNvSpPr/>
          <p:nvPr/>
        </p:nvSpPr>
        <p:spPr>
          <a:xfrm>
            <a:off x="9098280" y="4197096"/>
            <a:ext cx="2295144" cy="301752"/>
          </a:xfrm>
          <a:prstGeom prst="homePlat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2" y="4178808"/>
            <a:ext cx="10972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pic>
        <p:nvPicPr>
          <p:cNvPr id="21" name="Picture 20" descr="logo-eb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1092832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7"/>
            <a:ext cx="1091153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Wat behandelen we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85232" cy="12252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03120"/>
            <a:ext cx="603504" cy="603504"/>
          </a:xfrm>
          <a:prstGeom prst="ellipse">
            <a:avLst/>
          </a:prstGeom>
          <a:solidFill>
            <a:srgbClr val="2C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66543"/>
            <a:ext cx="4005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Het energielabel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05456"/>
            <a:ext cx="4005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Wat het is en wat je ervoor nodig hebt.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285232" cy="12252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2103120"/>
            <a:ext cx="603504" cy="603504"/>
          </a:xfrm>
          <a:prstGeom prst="ellipse">
            <a:avLst/>
          </a:prstGeom>
          <a:solidFill>
            <a:srgbClr val="2C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84831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066543"/>
            <a:ext cx="4005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De nulmeting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505456"/>
            <a:ext cx="4005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Inhoudelijk gelijk aan het energielabel.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28416"/>
            <a:ext cx="5285232" cy="12252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602736"/>
            <a:ext cx="603504" cy="603504"/>
          </a:xfrm>
          <a:prstGeom prst="ellipse">
            <a:avLst/>
          </a:prstGeom>
          <a:solidFill>
            <a:srgbClr val="2C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8444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566160"/>
            <a:ext cx="4005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Het maatwerkadvies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005072"/>
            <a:ext cx="4005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En wat een geregistreerd maatwerkadvies 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328416"/>
            <a:ext cx="5285232" cy="12252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7960" y="3602736"/>
            <a:ext cx="603504" cy="603504"/>
          </a:xfrm>
          <a:prstGeom prst="ellipse">
            <a:avLst/>
          </a:prstGeom>
          <a:solidFill>
            <a:srgbClr val="2C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58444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566160"/>
            <a:ext cx="4005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Registratie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4005072"/>
            <a:ext cx="4005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Waarom het ertoe doet — ook voor financiers.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28032"/>
            <a:ext cx="5285232" cy="12252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5102352"/>
            <a:ext cx="603504" cy="603504"/>
          </a:xfrm>
          <a:prstGeom prst="ellipse">
            <a:avLst/>
          </a:prstGeom>
          <a:solidFill>
            <a:srgbClr val="2C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08406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065776"/>
            <a:ext cx="4005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Het belang van een label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5504688"/>
            <a:ext cx="4005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Wat eigenaren ermee kunnen.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828032"/>
            <a:ext cx="5285232" cy="12252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37960" y="5102352"/>
            <a:ext cx="603504" cy="60350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508406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5065776"/>
            <a:ext cx="4005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Labellift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5504688"/>
            <a:ext cx="4005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Het platform dat verduurzaming op gang brengt.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 / 14</a:t>
            </a:r>
          </a:p>
        </p:txBody>
      </p:sp>
      <p:pic>
        <p:nvPicPr>
          <p:cNvPr id="36" name="Picture 35" descr="logo-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633" y="384048"/>
            <a:ext cx="749982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HET ENERGIELABEL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7"/>
            <a:ext cx="1091153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Wat is een </a:t>
            </a:r>
            <a:r>
              <a:rPr sz="3400" b="1" i="0">
                <a:solidFill>
                  <a:srgbClr val="2CA84B"/>
                </a:solidFill>
                <a:latin typeface="Calibri"/>
              </a:rPr>
              <a:t>energielabel</a:t>
            </a:r>
            <a:r>
              <a:rPr sz="3400" b="1" i="0">
                <a:solidFill>
                  <a:srgbClr val="0F172A"/>
                </a:solidFill>
                <a:latin typeface="Calibri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61264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Het energielabel laat zien hoe energiezuinig een gebouw is — van zeer zuinig (groen) tot onzuinig (rood).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Sinds 2021 wordt het bepaald met de </a:t>
            </a:r>
            <a:r>
              <a:rPr sz="1550" b="1" i="0">
                <a:solidFill>
                  <a:srgbClr val="0F172A"/>
                </a:solidFill>
                <a:latin typeface="Calibri"/>
              </a:rPr>
              <a:t>NTA 8800</a:t>
            </a:r>
            <a:r>
              <a:rPr sz="1550" b="0" i="0">
                <a:solidFill>
                  <a:srgbClr val="334155"/>
                </a:solidFill>
                <a:latin typeface="Calibri"/>
              </a:rPr>
              <a:t>: het berekende primaire energiegebruik in kWh per m² per jaar.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Een geregistreerd label is </a:t>
            </a:r>
            <a:r>
              <a:rPr sz="1550" b="1" i="0">
                <a:solidFill>
                  <a:srgbClr val="0F172A"/>
                </a:solidFill>
                <a:latin typeface="Calibri"/>
              </a:rPr>
              <a:t>10 jaar geldig</a:t>
            </a:r>
            <a:r>
              <a:rPr sz="1550" b="0" i="0">
                <a:solidFill>
                  <a:srgbClr val="334155"/>
                </a:solidFill>
                <a:latin typeface="Calibri"/>
              </a:rPr>
              <a:t> en verplicht bij verkoop en verhuur.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CA84B"/>
                </a:solidFill>
                <a:latin typeface="Calibri"/>
              </a:rPr>
              <a:t>✓  </a:t>
            </a:r>
            <a:r>
              <a:rPr sz="1450" b="0" i="0">
                <a:solidFill>
                  <a:srgbClr val="334155"/>
                </a:solidFill>
                <a:latin typeface="Calibri"/>
              </a:rPr>
              <a:t>Meet zowel de schil als de installaties van het pand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62856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CA84B"/>
                </a:solidFill>
                <a:latin typeface="Calibri"/>
              </a:rPr>
              <a:t>✓  </a:t>
            </a:r>
            <a:r>
              <a:rPr sz="1450" b="0" i="0">
                <a:solidFill>
                  <a:srgbClr val="334155"/>
                </a:solidFill>
                <a:latin typeface="Calibri"/>
              </a:rPr>
              <a:t>Objectief en onderling vergelijkbaar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65192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CA84B"/>
                </a:solidFill>
                <a:latin typeface="Calibri"/>
              </a:rPr>
              <a:t>✓  </a:t>
            </a:r>
            <a:r>
              <a:rPr sz="1450" b="0" i="0">
                <a:solidFill>
                  <a:srgbClr val="334155"/>
                </a:solidFill>
                <a:latin typeface="Calibri"/>
              </a:rPr>
              <a:t>De basis voor elke verduurzamingsstap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783080"/>
            <a:ext cx="3730752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993392"/>
            <a:ext cx="3730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alibri"/>
              </a:rPr>
              <a:t>De labelschaal</a:t>
            </a:r>
          </a:p>
        </p:txBody>
      </p:sp>
      <p:sp>
        <p:nvSpPr>
          <p:cNvPr id="11" name="Pentagon 10"/>
          <p:cNvSpPr/>
          <p:nvPr/>
        </p:nvSpPr>
        <p:spPr>
          <a:xfrm>
            <a:off x="8275320" y="2432304"/>
            <a:ext cx="1325880" cy="329184"/>
          </a:xfrm>
          <a:prstGeom prst="homePlate">
            <a:avLst/>
          </a:prstGeom>
          <a:solidFill>
            <a:srgbClr val="009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2414016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</a:t>
            </a:r>
            <a:r>
              <a:rPr sz="900" b="1" i="0" baseline="30000">
                <a:solidFill>
                  <a:srgbClr val="FFFFFF"/>
                </a:solidFill>
                <a:latin typeface="Calibri"/>
              </a:rPr>
              <a:t>+++</a:t>
            </a:r>
          </a:p>
        </p:txBody>
      </p:sp>
      <p:sp>
        <p:nvSpPr>
          <p:cNvPr id="13" name="Pentagon 12"/>
          <p:cNvSpPr/>
          <p:nvPr/>
        </p:nvSpPr>
        <p:spPr>
          <a:xfrm>
            <a:off x="8275320" y="2825496"/>
            <a:ext cx="1581912" cy="329184"/>
          </a:xfrm>
          <a:prstGeom prst="homePlate">
            <a:avLst/>
          </a:prstGeom>
          <a:solidFill>
            <a:srgbClr val="52A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2807208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</a:t>
            </a:r>
            <a:r>
              <a:rPr sz="900" b="1" i="0" baseline="30000">
                <a:solidFill>
                  <a:srgbClr val="FFFFFF"/>
                </a:solidFill>
                <a:latin typeface="Calibri"/>
              </a:rPr>
              <a:t>++</a:t>
            </a:r>
          </a:p>
        </p:txBody>
      </p:sp>
      <p:sp>
        <p:nvSpPr>
          <p:cNvPr id="15" name="Pentagon 14"/>
          <p:cNvSpPr/>
          <p:nvPr/>
        </p:nvSpPr>
        <p:spPr>
          <a:xfrm>
            <a:off x="8275320" y="3218688"/>
            <a:ext cx="1837943" cy="329184"/>
          </a:xfrm>
          <a:prstGeom prst="homePlate">
            <a:avLst/>
          </a:prstGeom>
          <a:solidFill>
            <a:srgbClr val="C7D3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3200400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</a:t>
            </a:r>
            <a:r>
              <a:rPr sz="900" b="1" i="0" baseline="3000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7" name="Pentagon 16"/>
          <p:cNvSpPr/>
          <p:nvPr/>
        </p:nvSpPr>
        <p:spPr>
          <a:xfrm>
            <a:off x="8275320" y="3611880"/>
            <a:ext cx="2093976" cy="329184"/>
          </a:xfrm>
          <a:prstGeom prst="homePlate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3593592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9" name="Pentagon 18"/>
          <p:cNvSpPr/>
          <p:nvPr/>
        </p:nvSpPr>
        <p:spPr>
          <a:xfrm>
            <a:off x="8275320" y="4005072"/>
            <a:ext cx="2350008" cy="329184"/>
          </a:xfrm>
          <a:prstGeom prst="homePlate">
            <a:avLst/>
          </a:prstGeom>
          <a:solidFill>
            <a:srgbClr val="FB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3986784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1" name="Pentagon 20"/>
          <p:cNvSpPr/>
          <p:nvPr/>
        </p:nvSpPr>
        <p:spPr>
          <a:xfrm>
            <a:off x="8275320" y="4398264"/>
            <a:ext cx="2606040" cy="329184"/>
          </a:xfrm>
          <a:prstGeom prst="homePlate">
            <a:avLst/>
          </a:prstGeom>
          <a:solidFill>
            <a:srgbClr val="E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4379976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Pentagon 22"/>
          <p:cNvSpPr/>
          <p:nvPr/>
        </p:nvSpPr>
        <p:spPr>
          <a:xfrm>
            <a:off x="8275320" y="4791456"/>
            <a:ext cx="2862072" cy="329184"/>
          </a:xfrm>
          <a:prstGeom prst="homePlat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4773168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 / 14</a:t>
            </a:r>
          </a:p>
        </p:txBody>
      </p:sp>
      <p:pic>
        <p:nvPicPr>
          <p:cNvPr id="26" name="Picture 25" descr="logo-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633" y="384048"/>
            <a:ext cx="749982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DE OPNAME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7"/>
            <a:ext cx="1091153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Wat is er nodig voor een label?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511296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7" y="2304288"/>
            <a:ext cx="676656" cy="676656"/>
          </a:xfrm>
          <a:prstGeom prst="ellipse">
            <a:avLst/>
          </a:prstGeom>
          <a:solidFill>
            <a:srgbClr val="2C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7" y="2286000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7" y="3218688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Gecertificeerde adviseur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7" y="3703320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Sinds 2021 mag alleen een gediplomeerd EPA-adviseur een geldig label opnemen en afmelden.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1920240"/>
            <a:ext cx="3511296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92040" y="2304288"/>
            <a:ext cx="676656" cy="676656"/>
          </a:xfrm>
          <a:prstGeom prst="ellipse">
            <a:avLst/>
          </a:prstGeom>
          <a:solidFill>
            <a:srgbClr val="2C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286000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218688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Opname ter plaatse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703320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De adviseur legt de schil (dak, gevel, vloer, glas) en de installaties (verwarming, ventilatie, tapwater, PV) vast.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3" y="1920240"/>
            <a:ext cx="3511296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59951" y="2304288"/>
            <a:ext cx="676656" cy="676656"/>
          </a:xfrm>
          <a:prstGeom prst="ellipse">
            <a:avLst/>
          </a:prstGeom>
          <a:solidFill>
            <a:srgbClr val="2C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9951" y="2286000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1" y="3218688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Bewijs bepaalt de waarde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1" y="3703320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Met goed bewijs tellen de échte waarden mee. Zonder bewijs gelden voorzichtige forfaitaire bouwjaarwaarden.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749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074920"/>
            <a:ext cx="76196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“Niet vastgelegd = niet meegerekend.”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3935" y="5074920"/>
            <a:ext cx="3886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C2CEDF"/>
                </a:solidFill>
                <a:latin typeface="Calibri"/>
              </a:rPr>
              <a:t>Goed bewijs = de juiste factuur + foto's + dossier.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4 / 14</a:t>
            </a:r>
          </a:p>
        </p:txBody>
      </p:sp>
      <p:pic>
        <p:nvPicPr>
          <p:cNvPr id="24" name="Picture 23" descr="logo-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633" y="384048"/>
            <a:ext cx="749982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DE NULMETING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7"/>
            <a:ext cx="1091153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De nulmeting </a:t>
            </a:r>
            <a:r>
              <a:rPr sz="3400" b="1" i="1">
                <a:solidFill>
                  <a:srgbClr val="2CA84B"/>
                </a:solidFill>
                <a:latin typeface="Calibri"/>
              </a:rPr>
              <a:t>ís</a:t>
            </a:r>
            <a:r>
              <a:rPr sz="3400" b="1" i="0">
                <a:solidFill>
                  <a:srgbClr val="0F172A"/>
                </a:solidFill>
                <a:latin typeface="Calibri"/>
              </a:rPr>
              <a:t> het energielabel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1783080"/>
            <a:ext cx="5148072" cy="841248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 w="12700">
            <a:solidFill>
              <a:srgbClr val="0B122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20440" y="1783080"/>
            <a:ext cx="514807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Eén opname &amp; berekening volgens NTA 8800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31255" y="2697480"/>
            <a:ext cx="329184" cy="310896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54096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64748B"/>
                </a:solidFill>
                <a:latin typeface="Calibri"/>
              </a:rPr>
              <a:t>Wel of niet registreren — dat is het enige verschil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56432"/>
            <a:ext cx="5285232" cy="1874519"/>
          </a:xfrm>
          <a:prstGeom prst="roundRect">
            <a:avLst>
              <a:gd name="adj" fmla="val 5000"/>
            </a:avLst>
          </a:prstGeom>
          <a:solidFill>
            <a:srgbClr val="ECF7EF"/>
          </a:solidFill>
          <a:ln w="12700">
            <a:solidFill>
              <a:srgbClr val="CFE9D8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3803904"/>
            <a:ext cx="457200" cy="457200"/>
          </a:xfrm>
          <a:prstGeom prst="ellipse">
            <a:avLst/>
          </a:prstGeom>
          <a:solidFill>
            <a:srgbClr val="2C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7856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767328"/>
            <a:ext cx="4005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Nulmeting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  (niet geregistreerd)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16552"/>
            <a:ext cx="45537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334155"/>
                </a:solidFill>
                <a:latin typeface="Calibri"/>
              </a:rPr>
              <a:t>Exact dezelfde meting — je startpunt. Geeft volledig inzicht in de huidige prestatie en is ideaal om verduurzaming op te plannen.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456432"/>
            <a:ext cx="5285232" cy="1874519"/>
          </a:xfrm>
          <a:prstGeom prst="roundRect">
            <a:avLst>
              <a:gd name="adj" fmla="val 5000"/>
            </a:avLst>
          </a:prstGeom>
          <a:solidFill>
            <a:srgbClr val="E6F7F4"/>
          </a:solidFill>
          <a:ln w="12700">
            <a:solidFill>
              <a:srgbClr val="C7EAE4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29400" y="3803904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7856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767328"/>
            <a:ext cx="4005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Geregistreerd energielabel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416552"/>
            <a:ext cx="45537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334155"/>
                </a:solidFill>
                <a:latin typeface="Calibri"/>
              </a:rPr>
              <a:t>Dezelfde meting, nu officieel afgemeld bij EP-Online. Wettelijk geldig (10 jaar) en verplicht bij verkoop en verhuur.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1">
                <a:solidFill>
                  <a:srgbClr val="1E7D38"/>
                </a:solidFill>
                <a:latin typeface="Calibri"/>
              </a:rPr>
              <a:t>Dezelfde meting. Het verschil zit in de registratie — niet in de inhoud.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5 / 14</a:t>
            </a:r>
          </a:p>
        </p:txBody>
      </p:sp>
      <p:pic>
        <p:nvPicPr>
          <p:cNvPr id="21" name="Picture 20" descr="logo-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633" y="384048"/>
            <a:ext cx="749982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HET MAATWERKADVIES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7"/>
            <a:ext cx="1091153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Wat is een </a:t>
            </a:r>
            <a:r>
              <a:rPr sz="3400" b="1" i="0">
                <a:solidFill>
                  <a:srgbClr val="2CA84B"/>
                </a:solidFill>
                <a:latin typeface="Calibri"/>
              </a:rPr>
              <a:t>maatwerkadvies</a:t>
            </a:r>
            <a:r>
              <a:rPr sz="3400" b="1" i="0">
                <a:solidFill>
                  <a:srgbClr val="0F172A"/>
                </a:solidFill>
                <a:latin typeface="Calibri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6126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0" i="0">
                <a:solidFill>
                  <a:srgbClr val="334155"/>
                </a:solidFill>
                <a:latin typeface="Calibri"/>
              </a:rPr>
              <a:t>Een maatwerkadvies bouwt voort op de nulmeting. Het laat per pand zien wélke maatregelen welk effect hebben.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CA84B"/>
                </a:solidFill>
                <a:latin typeface="Calibri"/>
              </a:rPr>
              <a:t>✓  </a:t>
            </a:r>
            <a:r>
              <a:rPr sz="1450" b="0" i="0">
                <a:solidFill>
                  <a:srgbClr val="334155"/>
                </a:solidFill>
                <a:latin typeface="Calibri"/>
              </a:rPr>
              <a:t>Concrete scenario's (bijvoorbeeld van C naar 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00984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CA84B"/>
                </a:solidFill>
                <a:latin typeface="Calibri"/>
              </a:rPr>
              <a:t>✓  </a:t>
            </a:r>
            <a:r>
              <a:rPr sz="1450" b="0" i="0">
                <a:solidFill>
                  <a:srgbClr val="334155"/>
                </a:solidFill>
                <a:latin typeface="Calibri"/>
              </a:rPr>
              <a:t>Kosten per maatregel en jaarlijkse besparing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21608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CA84B"/>
                </a:solidFill>
                <a:latin typeface="Calibri"/>
              </a:rPr>
              <a:t>✓  </a:t>
            </a:r>
            <a:r>
              <a:rPr sz="1450" b="0" i="0">
                <a:solidFill>
                  <a:srgbClr val="334155"/>
                </a:solidFill>
                <a:latin typeface="Calibri"/>
              </a:rPr>
              <a:t>CO₂-winst en terugverdientijd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42232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CA84B"/>
                </a:solidFill>
                <a:latin typeface="Calibri"/>
              </a:rPr>
              <a:t>✓  </a:t>
            </a:r>
            <a:r>
              <a:rPr sz="1450" b="0" i="0">
                <a:solidFill>
                  <a:srgbClr val="334155"/>
                </a:solidFill>
                <a:latin typeface="Calibri"/>
              </a:rPr>
              <a:t>De slimme volgorde van stappen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46320"/>
            <a:ext cx="6126480" cy="1078992"/>
          </a:xfrm>
          <a:prstGeom prst="roundRect">
            <a:avLst>
              <a:gd name="adj" fmla="val 7000"/>
            </a:avLst>
          </a:prstGeom>
          <a:solidFill>
            <a:srgbClr val="EEF1F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4846320"/>
            <a:ext cx="548640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334155"/>
                </a:solidFill>
                <a:latin typeface="Calibri"/>
              </a:rPr>
              <a:t>Net als bij het label staat de inhoud los van de registratie. Een geregistreerd maatwerkadvies heeft officiële status — daarover zo meer.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783080"/>
            <a:ext cx="3776472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993392"/>
            <a:ext cx="3776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alibri"/>
              </a:rPr>
              <a:t>Voorbeeldscenario</a:t>
            </a:r>
          </a:p>
        </p:txBody>
      </p:sp>
      <p:sp>
        <p:nvSpPr>
          <p:cNvPr id="14" name="Pentagon 13"/>
          <p:cNvSpPr/>
          <p:nvPr/>
        </p:nvSpPr>
        <p:spPr>
          <a:xfrm>
            <a:off x="8275320" y="2514600"/>
            <a:ext cx="1234440" cy="566928"/>
          </a:xfrm>
          <a:prstGeom prst="homePlate">
            <a:avLst/>
          </a:prstGeom>
          <a:solidFill>
            <a:srgbClr val="E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496312"/>
            <a:ext cx="10360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53728" y="2615184"/>
            <a:ext cx="713232" cy="365760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entagon 16"/>
          <p:cNvSpPr/>
          <p:nvPr/>
        </p:nvSpPr>
        <p:spPr>
          <a:xfrm>
            <a:off x="9921240" y="2514600"/>
            <a:ext cx="1234440" cy="566928"/>
          </a:xfrm>
          <a:prstGeom prst="homePlate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40" y="2496312"/>
            <a:ext cx="10360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429000"/>
            <a:ext cx="3044952" cy="457200"/>
          </a:xfrm>
          <a:prstGeom prst="roundRect">
            <a:avLst>
              <a:gd name="adj" fmla="val 25000"/>
            </a:avLst>
          </a:prstGeom>
          <a:solidFill>
            <a:srgbClr val="ECF7EF"/>
          </a:solidFill>
          <a:ln w="12700">
            <a:solidFill>
              <a:srgbClr val="CFE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429000"/>
            <a:ext cx="28620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CA84B"/>
                </a:solidFill>
                <a:latin typeface="Calibri"/>
              </a:rPr>
              <a:t>✓  </a:t>
            </a:r>
            <a:r>
              <a:rPr sz="1350" b="1" i="0">
                <a:solidFill>
                  <a:srgbClr val="0F172A"/>
                </a:solidFill>
                <a:latin typeface="Calibri"/>
              </a:rPr>
              <a:t>Dakisolatie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995928"/>
            <a:ext cx="3044952" cy="457200"/>
          </a:xfrm>
          <a:prstGeom prst="roundRect">
            <a:avLst>
              <a:gd name="adj" fmla="val 25000"/>
            </a:avLst>
          </a:prstGeom>
          <a:solidFill>
            <a:srgbClr val="ECF7EF"/>
          </a:solidFill>
          <a:ln w="12700">
            <a:solidFill>
              <a:srgbClr val="CFE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995928"/>
            <a:ext cx="28620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CA84B"/>
                </a:solidFill>
                <a:latin typeface="Calibri"/>
              </a:rPr>
              <a:t>✓  </a:t>
            </a:r>
            <a:r>
              <a:rPr sz="1350" b="1" i="0">
                <a:solidFill>
                  <a:srgbClr val="0F172A"/>
                </a:solidFill>
                <a:latin typeface="Calibri"/>
              </a:rPr>
              <a:t>HR++-glas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4562856"/>
            <a:ext cx="3044952" cy="457200"/>
          </a:xfrm>
          <a:prstGeom prst="roundRect">
            <a:avLst>
              <a:gd name="adj" fmla="val 25000"/>
            </a:avLst>
          </a:prstGeom>
          <a:solidFill>
            <a:srgbClr val="ECF7EF"/>
          </a:solidFill>
          <a:ln w="12700">
            <a:solidFill>
              <a:srgbClr val="CFE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4562856"/>
            <a:ext cx="28620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CA84B"/>
                </a:solidFill>
                <a:latin typeface="Calibri"/>
              </a:rPr>
              <a:t>✓  </a:t>
            </a:r>
            <a:r>
              <a:rPr sz="1350" b="1" i="0">
                <a:solidFill>
                  <a:srgbClr val="0F172A"/>
                </a:solidFill>
                <a:latin typeface="Calibri"/>
              </a:rPr>
              <a:t>Hybride warmtepomp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5129784"/>
            <a:ext cx="3044952" cy="457200"/>
          </a:xfrm>
          <a:prstGeom prst="roundRect">
            <a:avLst>
              <a:gd name="adj" fmla="val 25000"/>
            </a:avLst>
          </a:prstGeom>
          <a:solidFill>
            <a:srgbClr val="ECF7EF"/>
          </a:solidFill>
          <a:ln w="12700">
            <a:solidFill>
              <a:srgbClr val="CFE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5129784"/>
            <a:ext cx="28620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CA84B"/>
                </a:solidFill>
                <a:latin typeface="Calibri"/>
              </a:rPr>
              <a:t>✓  </a:t>
            </a:r>
            <a:r>
              <a:rPr sz="1350" b="1" i="0">
                <a:solidFill>
                  <a:srgbClr val="0F172A"/>
                </a:solidFill>
                <a:latin typeface="Calibri"/>
              </a:rPr>
              <a:t>Zonnepanelen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6 / 14</a:t>
            </a:r>
          </a:p>
        </p:txBody>
      </p:sp>
      <p:pic>
        <p:nvPicPr>
          <p:cNvPr id="28" name="Picture 27" descr="logo-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633" y="384048"/>
            <a:ext cx="749982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REGISTRATIE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7"/>
            <a:ext cx="1091153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Registreren — waarom het ertoe doet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285232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7" y="2258568"/>
            <a:ext cx="566928" cy="566928"/>
          </a:xfrm>
          <a:prstGeom prst="ellipse">
            <a:avLst/>
          </a:prstGeom>
          <a:solidFill>
            <a:srgbClr val="2C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7" y="2240279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331720"/>
            <a:ext cx="38221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Het label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7" y="3108960"/>
            <a:ext cx="451713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2CA84B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Geregistreerd = wettelijk geldig.</a:t>
            </a:r>
            <a:r>
              <a:rPr sz="1400" b="0" i="0">
                <a:solidFill>
                  <a:srgbClr val="334155"/>
                </a:solidFill>
                <a:latin typeface="Calibri"/>
              </a:rPr>
              <a:t> Verplicht bij verkoop en verhuur, 10 jaar geldig en zichtbaar in EP-Online.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4041648"/>
            <a:ext cx="451713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2CA84B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Een nulmeting zonder registratie</a:t>
            </a:r>
            <a:r>
              <a:rPr sz="1400" b="0" i="0">
                <a:solidFill>
                  <a:srgbClr val="334155"/>
                </a:solidFill>
                <a:latin typeface="Calibri"/>
              </a:rPr>
              <a:t> is perfect voor inzicht en planning; voor de officiële status meld je het label af.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285232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47688" y="2258568"/>
            <a:ext cx="566928" cy="56692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2240279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331720"/>
            <a:ext cx="38221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F172A"/>
                </a:solidFill>
                <a:latin typeface="Calibri"/>
              </a:rPr>
              <a:t>Het maatwerkadvies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3108960"/>
            <a:ext cx="451713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Financiers willen het geregistreerd:</a:t>
            </a:r>
            <a:r>
              <a:rPr sz="1400" b="0" i="0">
                <a:solidFill>
                  <a:srgbClr val="334155"/>
                </a:solidFill>
                <a:latin typeface="Calibri"/>
              </a:rPr>
              <a:t> dan is het op waarheid gebaseerd, conform NTA 8800.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041648"/>
            <a:ext cx="451713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14B8A6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0F172A"/>
                </a:solidFill>
                <a:latin typeface="Calibri"/>
              </a:rPr>
              <a:t>Zo financieren ze verduurzaming</a:t>
            </a:r>
            <a:r>
              <a:rPr sz="1400" b="0" i="0">
                <a:solidFill>
                  <a:srgbClr val="334155"/>
                </a:solidFill>
                <a:latin typeface="Calibri"/>
              </a:rPr>
              <a:t> — denk aan extra leenruimte of gunstiger voorwaarden op basis van het te behalen label.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85232"/>
            <a:ext cx="10911535" cy="786384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85232"/>
            <a:ext cx="10911535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Inhoud = de waarheid over het pand.   Registratie = de officiële status die derden vertrouwen.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7 / 14</a:t>
            </a:r>
          </a:p>
        </p:txBody>
      </p:sp>
      <p:pic>
        <p:nvPicPr>
          <p:cNvPr id="20" name="Picture 19" descr="logo-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633" y="384048"/>
            <a:ext cx="749982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HET BELANG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7"/>
            <a:ext cx="1091153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Wat eigenaren met een label kunnen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511296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19" y="2130552"/>
            <a:ext cx="457200" cy="457200"/>
          </a:xfrm>
          <a:prstGeom prst="ellipse">
            <a:avLst/>
          </a:prstGeom>
          <a:solidFill>
            <a:srgbClr val="2C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11226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670048"/>
            <a:ext cx="2871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Verkopen &amp; verhuren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3035808"/>
            <a:ext cx="2871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334155"/>
                </a:solidFill>
                <a:latin typeface="Calibri"/>
              </a:rPr>
              <a:t>Een geldig label is verplicht — dus altijd nodig om te kunnen leveren.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1828800"/>
            <a:ext cx="3511296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28031" y="2130552"/>
            <a:ext cx="457200" cy="457200"/>
          </a:xfrm>
          <a:prstGeom prst="ellipse">
            <a:avLst/>
          </a:prstGeom>
          <a:solidFill>
            <a:srgbClr val="2C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1" y="211226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1" y="2670048"/>
            <a:ext cx="2871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Voldoen aan wetgeving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1" y="3035808"/>
            <a:ext cx="2871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334155"/>
                </a:solidFill>
                <a:latin typeface="Calibri"/>
              </a:rPr>
              <a:t>Verhuur: min. label D in 2030, geen E/F/G. Kantoren al min. C sinds 2023.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3" y="1828800"/>
            <a:ext cx="3511296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95943" y="2130552"/>
            <a:ext cx="457200" cy="457200"/>
          </a:xfrm>
          <a:prstGeom prst="ellipse">
            <a:avLst/>
          </a:prstGeom>
          <a:solidFill>
            <a:srgbClr val="2C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95943" y="211226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95943" y="2670048"/>
            <a:ext cx="2871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Meer waarde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95943" y="3035808"/>
            <a:ext cx="2871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334155"/>
                </a:solidFill>
                <a:latin typeface="Calibri"/>
              </a:rPr>
              <a:t>Een beter label betekent een hogere waarde en een snellere verkoop.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40480"/>
            <a:ext cx="3511296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19" y="4142232"/>
            <a:ext cx="457200" cy="457200"/>
          </a:xfrm>
          <a:prstGeom prst="ellipse">
            <a:avLst/>
          </a:prstGeom>
          <a:solidFill>
            <a:srgbClr val="2C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19" y="41239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19" y="4681728"/>
            <a:ext cx="2871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Financiering &amp; subsidie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19" y="5047488"/>
            <a:ext cx="2871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334155"/>
                </a:solidFill>
                <a:latin typeface="Calibri"/>
              </a:rPr>
              <a:t>Groene financiering, meer leenruimte en subsidies (ISDE, SVOH, SVVE).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07992" y="3840480"/>
            <a:ext cx="3511296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28031" y="4142232"/>
            <a:ext cx="457200" cy="457200"/>
          </a:xfrm>
          <a:prstGeom prst="ellipse">
            <a:avLst/>
          </a:prstGeom>
          <a:solidFill>
            <a:srgbClr val="2C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8031" y="41239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1" y="4681728"/>
            <a:ext cx="2871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Comfort &amp; lagere lasten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1" y="5047488"/>
            <a:ext cx="2871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334155"/>
                </a:solidFill>
                <a:latin typeface="Calibri"/>
              </a:rPr>
              <a:t>Minder warmteverlies, een lagere energierekening en meer wooncomfort.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75903" y="3840480"/>
            <a:ext cx="3511296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95943" y="4142232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95943" y="41239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95943" y="4681728"/>
            <a:ext cx="2871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Regie over verduurzaming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95943" y="5047488"/>
            <a:ext cx="2871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334155"/>
                </a:solidFill>
                <a:latin typeface="Calibri"/>
              </a:rPr>
              <a:t>Met nulmeting + maatwerkadvies weet je welke stap welk effect heeft.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8 / 14</a:t>
            </a:r>
          </a:p>
        </p:txBody>
      </p:sp>
      <p:pic>
        <p:nvPicPr>
          <p:cNvPr id="36" name="Picture 35" descr="logo-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633" y="384048"/>
            <a:ext cx="749982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VOOR DE MAKELAAR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7"/>
            <a:ext cx="1091153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Wat dit voor jou betekent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11535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56231"/>
            <a:ext cx="91440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 i="0">
                <a:solidFill>
                  <a:srgbClr val="2CA84B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20824"/>
            <a:ext cx="9448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Sneller en hoger verkocht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77439"/>
            <a:ext cx="9448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334155"/>
                </a:solidFill>
                <a:latin typeface="Calibri"/>
              </a:rPr>
              <a:t>Een beter label maakt een woning aantrekkelijker en beter verkoopbaar.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71215"/>
            <a:ext cx="10911535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52927"/>
            <a:ext cx="91440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 i="0">
                <a:solidFill>
                  <a:srgbClr val="2CA84B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448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Advies dat je onderscheidt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374135"/>
            <a:ext cx="9448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334155"/>
                </a:solidFill>
                <a:latin typeface="Calibri"/>
              </a:rPr>
              <a:t>Wijs verkopers op de juiste stap of het juiste bewijs dat het label tilt.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67912"/>
            <a:ext cx="10911535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49624"/>
            <a:ext cx="91440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 i="0">
                <a:solidFill>
                  <a:srgbClr val="14B8A6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014216"/>
            <a:ext cx="9448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Soepeler financiering voor kopers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370832"/>
            <a:ext cx="9448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334155"/>
                </a:solidFill>
                <a:latin typeface="Calibri"/>
              </a:rPr>
              <a:t>Met zicht op een beter label — en straks een geregistreerd maatwerkadvies — krijgen kopers meer financieringsruimte.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64608"/>
            <a:ext cx="10911535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46320"/>
            <a:ext cx="91440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 i="0">
                <a:solidFill>
                  <a:srgbClr val="2CA84B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010912"/>
            <a:ext cx="9448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172A"/>
                </a:solidFill>
                <a:latin typeface="Calibri"/>
              </a:rPr>
              <a:t>Eén aanspreekpunt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367528"/>
            <a:ext cx="9448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334155"/>
                </a:solidFill>
                <a:latin typeface="Calibri"/>
              </a:rPr>
              <a:t>Energiebehoud verzorgt de opname, Labellift helpt je klant zelf op weg.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053328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alibri"/>
              </a:rPr>
              <a:t>Gecertificeerd  ·  regio Nijmegen–Arnhem  ·  afgemeld binnen 5 werkdagen na opname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9 / 14</a:t>
            </a:r>
          </a:p>
        </p:txBody>
      </p:sp>
      <p:pic>
        <p:nvPicPr>
          <p:cNvPr id="23" name="Picture 22" descr="logo-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633" y="384048"/>
            <a:ext cx="749982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1" y="576072"/>
            <a:ext cx="438912" cy="438912"/>
          </a:xfrm>
          <a:prstGeom prst="roundRect">
            <a:avLst>
              <a:gd name="adj" fmla="val 27777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932688" y="722376"/>
            <a:ext cx="0" cy="182880"/>
          </a:xfrm>
          <a:prstGeom prst="line">
            <a:avLst/>
          </a:prstGeom>
          <a:ln w="41452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859536" y="722376"/>
            <a:ext cx="73152" cy="73152"/>
          </a:xfrm>
          <a:prstGeom prst="line">
            <a:avLst/>
          </a:prstGeom>
          <a:ln w="41452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32688" y="722376"/>
            <a:ext cx="73152" cy="73152"/>
          </a:xfrm>
          <a:prstGeom prst="line">
            <a:avLst/>
          </a:prstGeom>
          <a:ln w="41452" cap="rnd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03427" y="638251"/>
            <a:ext cx="58521" cy="58521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08175" y="466344"/>
            <a:ext cx="457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Labellift</a:t>
            </a:r>
            <a:r>
              <a:rPr sz="2600" b="1" i="0">
                <a:solidFill>
                  <a:srgbClr val="14B8A6"/>
                </a:solidFill>
                <a:latin typeface="Calibri"/>
              </a:rPr>
              <a:t>.nl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B8A6"/>
                </a:solidFill>
                <a:latin typeface="Calibri"/>
              </a:rPr>
              <a:t>DIT JAAR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74980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700" b="1" i="0">
                <a:solidFill>
                  <a:srgbClr val="FFFFFF"/>
                </a:solidFill>
                <a:latin typeface="Calibri"/>
              </a:rPr>
              <a:t>Het platform dat verduurzaming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700" b="1" i="0">
                <a:solidFill>
                  <a:srgbClr val="FFFFFF"/>
                </a:solidFill>
                <a:latin typeface="Calibri"/>
              </a:rPr>
              <a:t>eenvoudig op gang brengt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7040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50" b="0" i="0">
                <a:solidFill>
                  <a:srgbClr val="C2CEDF"/>
                </a:solidFill>
                <a:latin typeface="Calibri"/>
              </a:rPr>
              <a:t>Labellift is het </a:t>
            </a:r>
            <a:r>
              <a:rPr sz="1650" b="1" i="0">
                <a:solidFill>
                  <a:srgbClr val="FFFFFF"/>
                </a:solidFill>
                <a:latin typeface="Calibri"/>
              </a:rPr>
              <a:t>onafhankelijke</a:t>
            </a:r>
            <a:r>
              <a:rPr sz="1650" b="0" i="0">
                <a:solidFill>
                  <a:srgbClr val="C2CEDF"/>
                </a:solidFill>
                <a:latin typeface="Calibri"/>
              </a:rPr>
              <a:t> verduurzamings- en bewijsplatform van Energiebehoud. Pandeigenaren krijgen stap voor stap inzicht en zetten zélf de eerste stappen — van postcode tot definitief label.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623560"/>
            <a:ext cx="2161641" cy="512064"/>
          </a:xfrm>
          <a:prstGeom prst="roundRect">
            <a:avLst>
              <a:gd name="adj" fmla="val 30000"/>
            </a:avLst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623560"/>
            <a:ext cx="216164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B8A6"/>
                </a:solidFill>
                <a:latin typeface="Calibri"/>
              </a:rPr>
              <a:t>100% onafhankelijk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30321" y="5623560"/>
            <a:ext cx="2556662" cy="512064"/>
          </a:xfrm>
          <a:prstGeom prst="roundRect">
            <a:avLst>
              <a:gd name="adj" fmla="val 30000"/>
            </a:avLst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0321" y="5623560"/>
            <a:ext cx="255666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B8A6"/>
                </a:solidFill>
                <a:latin typeface="Calibri"/>
              </a:rPr>
              <a:t>Van postcode tot label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15583" y="5623560"/>
            <a:ext cx="4136745" cy="512064"/>
          </a:xfrm>
          <a:prstGeom prst="roundRect">
            <a:avLst>
              <a:gd name="adj" fmla="val 30000"/>
            </a:avLst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15583" y="5623560"/>
            <a:ext cx="413674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4B8A6"/>
                </a:solidFill>
                <a:latin typeface="Calibri"/>
              </a:rPr>
              <a:t>Bewijs op orde = hoogst haalbare label</a:t>
            </a:r>
          </a:p>
        </p:txBody>
      </p:sp>
      <p:sp>
        <p:nvSpPr>
          <p:cNvPr id="18" name="Pentagon 17"/>
          <p:cNvSpPr/>
          <p:nvPr/>
        </p:nvSpPr>
        <p:spPr>
          <a:xfrm>
            <a:off x="9144000" y="2148840"/>
            <a:ext cx="914400" cy="301752"/>
          </a:xfrm>
          <a:prstGeom prst="homePlate">
            <a:avLst/>
          </a:prstGeom>
          <a:solidFill>
            <a:srgbClr val="009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entagon 18"/>
          <p:cNvSpPr/>
          <p:nvPr/>
        </p:nvSpPr>
        <p:spPr>
          <a:xfrm>
            <a:off x="9144000" y="2514600"/>
            <a:ext cx="1152144" cy="301752"/>
          </a:xfrm>
          <a:prstGeom prst="homePlate">
            <a:avLst/>
          </a:prstGeom>
          <a:solidFill>
            <a:srgbClr val="52A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entagon 19"/>
          <p:cNvSpPr/>
          <p:nvPr/>
        </p:nvSpPr>
        <p:spPr>
          <a:xfrm>
            <a:off x="9144000" y="2880360"/>
            <a:ext cx="1389888" cy="301752"/>
          </a:xfrm>
          <a:prstGeom prst="homePlate">
            <a:avLst/>
          </a:prstGeom>
          <a:solidFill>
            <a:srgbClr val="C7D3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entagon 20"/>
          <p:cNvSpPr/>
          <p:nvPr/>
        </p:nvSpPr>
        <p:spPr>
          <a:xfrm>
            <a:off x="9144000" y="3246120"/>
            <a:ext cx="1627632" cy="301752"/>
          </a:xfrm>
          <a:prstGeom prst="homePlate">
            <a:avLst/>
          </a:prstGeom>
          <a:solidFill>
            <a:srgbClr val="FF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entagon 21"/>
          <p:cNvSpPr/>
          <p:nvPr/>
        </p:nvSpPr>
        <p:spPr>
          <a:xfrm>
            <a:off x="9144000" y="3611880"/>
            <a:ext cx="1865376" cy="301752"/>
          </a:xfrm>
          <a:prstGeom prst="homePlate">
            <a:avLst/>
          </a:prstGeom>
          <a:solidFill>
            <a:srgbClr val="FB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entagon 22"/>
          <p:cNvSpPr/>
          <p:nvPr/>
        </p:nvSpPr>
        <p:spPr>
          <a:xfrm>
            <a:off x="9144000" y="3977639"/>
            <a:ext cx="2103120" cy="301752"/>
          </a:xfrm>
          <a:prstGeom prst="homePlate">
            <a:avLst/>
          </a:prstGeom>
          <a:solidFill>
            <a:srgbClr val="EF7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entagon 23"/>
          <p:cNvSpPr/>
          <p:nvPr/>
        </p:nvSpPr>
        <p:spPr>
          <a:xfrm>
            <a:off x="9144000" y="4343400"/>
            <a:ext cx="2340864" cy="301752"/>
          </a:xfrm>
          <a:prstGeom prst="homePlat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ogo-eb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633" y="384048"/>
            <a:ext cx="749982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HOE HET WERKT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7"/>
            <a:ext cx="1091153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Van postcode tot definitief label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11296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2039112"/>
            <a:ext cx="23225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Postcode-check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441448"/>
            <a:ext cx="23225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Direct het huidige label en de woninggegevens in beeld.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1783080"/>
            <a:ext cx="3511296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82312" y="2057400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20391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5544" y="2039112"/>
            <a:ext cx="23225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Inzicht &amp; subsidies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95544" y="2441448"/>
            <a:ext cx="23225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Globale scan van schil en installatie, met passende subsidies.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3" y="1783080"/>
            <a:ext cx="3511296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50224" y="2057400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0224" y="20391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63455" y="2039112"/>
            <a:ext cx="23225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Persoonlijk dossier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5" y="2441448"/>
            <a:ext cx="23225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Verzamel per onderdeel het bewijs: de juiste facturen en foto's.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10712"/>
            <a:ext cx="3511296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3685032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6667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3666744"/>
            <a:ext cx="23225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Nulmeting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7632" y="4069080"/>
            <a:ext cx="23225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Een regionale EPA-partner meet de prestatie volgens NTA 8800.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07992" y="3410712"/>
            <a:ext cx="3511296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82312" y="3685032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36667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95544" y="3666744"/>
            <a:ext cx="23225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Maatwerkscenario's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95544" y="4069080"/>
            <a:ext cx="23225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Welke maatregelen brengen welk label, binnen welk budget.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75903" y="3410712"/>
            <a:ext cx="3511296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50224" y="3685032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50224" y="36667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63455" y="3666744"/>
            <a:ext cx="23225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Definitief label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63455" y="4069080"/>
            <a:ext cx="23225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Na uitvoering wordt het beste label afgemeld bij EP-Online.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029200"/>
            <a:ext cx="10911535" cy="960120"/>
          </a:xfrm>
          <a:prstGeom prst="roundRect">
            <a:avLst>
              <a:gd name="adj" fmla="val 7000"/>
            </a:avLst>
          </a:prstGeom>
          <a:solidFill>
            <a:srgbClr val="E6F7F4"/>
          </a:solidFill>
          <a:ln w="12700">
            <a:solidFill>
              <a:srgbClr val="C7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029200"/>
            <a:ext cx="10180015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0E9384"/>
                </a:solidFill>
                <a:latin typeface="Calibri"/>
              </a:rPr>
              <a:t>De kern:</a:t>
            </a:r>
            <a:r>
              <a:rPr sz="1400" b="0" i="0">
                <a:solidFill>
                  <a:srgbClr val="334155"/>
                </a:solidFill>
                <a:latin typeface="Calibri"/>
              </a:rPr>
              <a:t>  goed vastgelegd bewijs laat de échte waarden meetellen (BCRG) in plaats van voorzichtige forfaitaire waarden — zo haal je het hoogst haalbare label.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11 / 14</a:t>
            </a:r>
          </a:p>
        </p:txBody>
      </p:sp>
      <p:pic>
        <p:nvPicPr>
          <p:cNvPr id="38" name="Picture 37" descr="logo-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633" y="384048"/>
            <a:ext cx="749982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NU &amp; STRAKS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7"/>
            <a:ext cx="1091153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0F172A"/>
                </a:solidFill>
                <a:latin typeface="Calibri"/>
              </a:rPr>
              <a:t>Labellift en het </a:t>
            </a:r>
            <a:r>
              <a:rPr sz="3300" b="1" i="0">
                <a:solidFill>
                  <a:srgbClr val="14B8A6"/>
                </a:solidFill>
                <a:latin typeface="Calibri"/>
              </a:rPr>
              <a:t>geregistreerde maatwerkadvies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5029200" cy="2697480"/>
          </a:xfrm>
          <a:prstGeom prst="roundRect">
            <a:avLst>
              <a:gd name="adj" fmla="val 5000"/>
            </a:avLst>
          </a:prstGeom>
          <a:solidFill>
            <a:srgbClr val="ECF7EF"/>
          </a:solidFill>
          <a:ln w="12700">
            <a:solidFill>
              <a:srgbClr val="CFE9D8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E7D38"/>
                </a:solidFill>
                <a:latin typeface="Calibri"/>
              </a:rPr>
              <a:t>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71800"/>
            <a:ext cx="4206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 i="0">
                <a:solidFill>
                  <a:srgbClr val="334155"/>
                </a:solidFill>
                <a:latin typeface="Calibri"/>
              </a:rPr>
              <a:t>Labellift richt zich op de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nulmeting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 (gelijk aan het label) en op het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op orde brengen van het bewijs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334155"/>
                </a:solidFill>
                <a:latin typeface="Calibri"/>
              </a:rPr>
              <a:t>Geregistreerde maatwerkadviezen horen daar nu nog niet bij.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15584" y="3268980"/>
            <a:ext cx="502920" cy="45720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73952" y="2148840"/>
            <a:ext cx="5029200" cy="2697480"/>
          </a:xfrm>
          <a:prstGeom prst="roundRect">
            <a:avLst>
              <a:gd name="adj" fmla="val 5000"/>
            </a:avLst>
          </a:prstGeom>
          <a:solidFill>
            <a:srgbClr val="D6F0EA"/>
          </a:solidFill>
          <a:ln w="12700">
            <a:solidFill>
              <a:srgbClr val="B8E4DC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5432" y="246888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E9384"/>
                </a:solidFill>
                <a:latin typeface="Calibri"/>
              </a:rPr>
              <a:t>STRAKS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5432" y="2971800"/>
            <a:ext cx="4206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 i="0">
                <a:solidFill>
                  <a:srgbClr val="334155"/>
                </a:solidFill>
                <a:latin typeface="Calibri"/>
              </a:rPr>
              <a:t>Geregistreerde maatwerkadviezen komen erbij. </a:t>
            </a:r>
            <a:r>
              <a:rPr sz="1500" b="1" i="0">
                <a:solidFill>
                  <a:srgbClr val="0F172A"/>
                </a:solidFill>
                <a:latin typeface="Calibri"/>
              </a:rPr>
              <a:t>Financiers hechten daaraan</a:t>
            </a:r>
            <a:r>
              <a:rPr sz="1500" b="0" i="0">
                <a:solidFill>
                  <a:srgbClr val="334155"/>
                </a:solidFill>
                <a:latin typeface="Calibri"/>
              </a:rPr>
              <a:t>: geregistreerd = op waarheid gebaseerd, conform NTA 8800.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334155"/>
                </a:solidFill>
                <a:latin typeface="Calibri"/>
              </a:rPr>
              <a:t>Dé basis om verduurzaming te kunnen financieren.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1">
                <a:solidFill>
                  <a:srgbClr val="0E9384"/>
                </a:solidFill>
                <a:latin typeface="Calibri"/>
              </a:rPr>
              <a:t>Zo groeit Labellift mee met wat eigenaren én financiers nodig hebben.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12 / 14</a:t>
            </a:r>
          </a:p>
        </p:txBody>
      </p:sp>
      <p:pic>
        <p:nvPicPr>
          <p:cNvPr id="14" name="Picture 13" descr="logo-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633" y="384048"/>
            <a:ext cx="749982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SAMENWERKEN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7"/>
            <a:ext cx="1091153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0F172A"/>
                </a:solidFill>
                <a:latin typeface="Calibri"/>
              </a:rPr>
              <a:t>Samen voor betere labels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511296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57400" y="2395728"/>
            <a:ext cx="676656" cy="676656"/>
          </a:xfrm>
          <a:prstGeom prst="ellipse">
            <a:avLst/>
          </a:prstGeom>
          <a:solidFill>
            <a:srgbClr val="2C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2377440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3291840"/>
            <a:ext cx="2871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Jij verwijst door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3886200"/>
            <a:ext cx="2871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334155"/>
                </a:solidFill>
                <a:latin typeface="Calibri"/>
              </a:rPr>
              <a:t>Een klant die verkoopt, verhuurt of wil verduurzamen.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8" y="2514600"/>
            <a:ext cx="411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2011680"/>
            <a:ext cx="3511296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25312" y="2395728"/>
            <a:ext cx="676656" cy="676656"/>
          </a:xfrm>
          <a:prstGeom prst="ellipse">
            <a:avLst/>
          </a:prstGeom>
          <a:solidFill>
            <a:srgbClr val="2C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25312" y="2377440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1" y="3291840"/>
            <a:ext cx="2871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Wij nemen 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1" y="3886200"/>
            <a:ext cx="2871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334155"/>
                </a:solidFill>
                <a:latin typeface="Calibri"/>
              </a:rPr>
              <a:t>Energiebehoud verzorgt de gecertificeerde opname en het label — snel en persoonlijk.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514600"/>
            <a:ext cx="411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75903" y="2011680"/>
            <a:ext cx="3511296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85000" dist="30000" dir="5400000" rotWithShape="0">
              <a:srgbClr val="0B12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93224" y="2395728"/>
            <a:ext cx="676656" cy="67665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93224" y="2377440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5943" y="3291840"/>
            <a:ext cx="2871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Calibri"/>
              </a:rPr>
              <a:t>Labellift helpt verder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95943" y="3886200"/>
            <a:ext cx="2871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334155"/>
                </a:solidFill>
                <a:latin typeface="Calibri"/>
              </a:rPr>
              <a:t>Je klant zet zelf de verduurzaming in gang, met het bewijs op orde.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74920"/>
            <a:ext cx="10911535" cy="86868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109115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Het resultaat: betere labels, snellere transacties en blije klanten — voor jou en voor 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281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13 / 14</a:t>
            </a:r>
          </a:p>
        </p:txBody>
      </p:sp>
      <p:pic>
        <p:nvPicPr>
          <p:cNvPr id="25" name="Picture 24" descr="logo-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633" y="384048"/>
            <a:ext cx="749982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B8A6"/>
                </a:solidFill>
                <a:latin typeface="Calibri"/>
              </a:rPr>
              <a:t>TOT SLOT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96896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Klaar om je klanten verder te helpen?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C2CEDF"/>
                </a:solidFill>
                <a:latin typeface="Calibri"/>
              </a:rPr>
              <a:t>Laten we kennismaken en kijken hoe we samenwerken.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26280"/>
            <a:ext cx="6766560" cy="1600200"/>
          </a:xfrm>
          <a:prstGeom prst="roundRect">
            <a:avLst>
              <a:gd name="adj" fmla="val 5000"/>
            </a:avLst>
          </a:prstGeom>
          <a:solidFill>
            <a:srgbClr val="16223A"/>
          </a:solidFill>
          <a:ln w="12700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Berend van Berkel</a:t>
            </a:r>
            <a:r>
              <a:rPr sz="1500" b="0" i="0">
                <a:solidFill>
                  <a:srgbClr val="9FB0C9"/>
                </a:solidFill>
                <a:latin typeface="Calibri"/>
              </a:rPr>
              <a:t>   ·   Energiebehoud BV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25780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C2CEDF"/>
                </a:solidFill>
                <a:latin typeface="Calibri"/>
              </a:rPr>
              <a:t>024 – 7200202</a:t>
            </a:r>
            <a:r>
              <a:rPr sz="1450" b="0" i="0">
                <a:solidFill>
                  <a:srgbClr val="C2CEDF"/>
                </a:solidFill>
                <a:latin typeface="Calibri"/>
              </a:rPr>
              <a:t>    ·    info@energiebehoud.nl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62356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C2CEDF"/>
                </a:solidFill>
                <a:latin typeface="Calibri"/>
              </a:rPr>
              <a:t>www.energiebehoud.nl</a:t>
            </a:r>
            <a:r>
              <a:rPr sz="1450" b="0" i="0">
                <a:solidFill>
                  <a:srgbClr val="C2CEDF"/>
                </a:solidFill>
                <a:latin typeface="Calibri"/>
              </a:rPr>
              <a:t>    ·    Bijleveldsingel 2, Nijmegen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526280"/>
            <a:ext cx="3136392" cy="1600200"/>
          </a:xfrm>
          <a:prstGeom prst="roundRect">
            <a:avLst>
              <a:gd name="adj" fmla="val 5000"/>
            </a:avLst>
          </a:prstGeom>
          <a:solidFill>
            <a:srgbClr val="16223A"/>
          </a:solidFill>
          <a:ln w="12700">
            <a:solidFill>
              <a:srgbClr val="223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4828032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Labellift.nl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53035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4B8A6"/>
                </a:solidFill>
                <a:latin typeface="Calibri"/>
              </a:rPr>
              <a:t>Dit jaar online.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5650992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9FB0C9"/>
                </a:solidFill>
                <a:latin typeface="Calibri"/>
              </a:rPr>
              <a:t>Verduurzaming, eenvoudig op gang.</a:t>
            </a:r>
          </a:p>
        </p:txBody>
      </p:sp>
      <p:pic>
        <p:nvPicPr>
          <p:cNvPr id="14" name="Picture 13" descr="logo-eb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1092832" cy="9326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